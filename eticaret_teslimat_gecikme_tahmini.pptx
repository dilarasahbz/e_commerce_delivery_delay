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ara Şahbaz" userId="bd1466d4dfefb3ca" providerId="LiveId" clId="{83C013CF-87A4-4E3D-86C6-88E3741897CC}"/>
    <pc:docChg chg="addSld delSld modSld">
      <pc:chgData name="Dilara Şahbaz" userId="bd1466d4dfefb3ca" providerId="LiveId" clId="{83C013CF-87A4-4E3D-86C6-88E3741897CC}" dt="2026-07-13T10:19:07.474" v="111" actId="20577"/>
      <pc:docMkLst>
        <pc:docMk/>
      </pc:docMkLst>
      <pc:sldChg chg="modSp mod">
        <pc:chgData name="Dilara Şahbaz" userId="bd1466d4dfefb3ca" providerId="LiveId" clId="{83C013CF-87A4-4E3D-86C6-88E3741897CC}" dt="2026-07-13T10:19:07.474" v="111" actId="20577"/>
        <pc:sldMkLst>
          <pc:docMk/>
          <pc:sldMk cId="0" sldId="264"/>
        </pc:sldMkLst>
        <pc:spChg chg="mod">
          <ac:chgData name="Dilara Şahbaz" userId="bd1466d4dfefb3ca" providerId="LiveId" clId="{83C013CF-87A4-4E3D-86C6-88E3741897CC}" dt="2026-07-13T10:19:07.474" v="111" actId="20577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Dilara Şahbaz" userId="bd1466d4dfefb3ca" providerId="LiveId" clId="{83C013CF-87A4-4E3D-86C6-88E3741897CC}" dt="2026-07-13T10:15:53.021" v="68" actId="20577"/>
        <pc:sldMkLst>
          <pc:docMk/>
          <pc:sldMk cId="0" sldId="265"/>
        </pc:sldMkLst>
        <pc:spChg chg="mod">
          <ac:chgData name="Dilara Şahbaz" userId="bd1466d4dfefb3ca" providerId="LiveId" clId="{83C013CF-87A4-4E3D-86C6-88E3741897CC}" dt="2026-07-13T10:15:53.021" v="68" actId="20577"/>
          <ac:spMkLst>
            <pc:docMk/>
            <pc:sldMk cId="0" sldId="265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96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A3A8F">
              <a:alpha val="38000"/>
            </a:srgbClr>
          </a:solidFill>
          <a:ln w="12700">
            <a:solidFill>
              <a:srgbClr val="1A3A8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132320" y="2377440"/>
            <a:ext cx="2194560" cy="219456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00584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6576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E-TİCARET TESLİMAT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9224" y="1214745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GECİKME TAHMİN MODELİ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" y="212140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Pipeline ile İkili Sınıflandırma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2560320"/>
            <a:ext cx="43891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94360" y="2715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Olist E-Ticaret (Brezilya)  —  96.470 sipariş  |  2016–2018  |  %8,1 gecikme oranı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0266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 Regression (AUC 0,754)  •  Two-Class Boosted Decision Tree (AUC 0,725)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LR: Accuracy %81,5  •  BDT: Accuracy %79,9  |  Threshold LR 0,49  •  BDT 0,37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6484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Microsoft Azure Machine Learning Studio  —  Kronolojik Train/Test Split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Projesi  |  202</a:t>
            </a:r>
            <a:r>
              <a:rPr lang="tr-TR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Tanımı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 tesliminde gecikme neden kritik bir iş problemidir?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2011680" cy="12984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56032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96.470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56032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Sipariş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 dönemi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32304" y="1024128"/>
            <a:ext cx="2011680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432304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32304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Teslimat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32304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 =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2011680" cy="1298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608576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%8,1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08576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 Oranı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8576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84848" y="1024128"/>
            <a:ext cx="201168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784848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31,1 gün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84848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Ort. Gecikme Süresi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84848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Zamanında: 10,4 gün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487168"/>
            <a:ext cx="413308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56032" y="2487168"/>
            <a:ext cx="64008" cy="2423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4328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32688" y="2624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Problemin Özü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3090672"/>
            <a:ext cx="376732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sipariş kargoya verildiği anda </a:t>
            </a: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teslimatın gecikip gecikmeyeceğini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tahmin etmek istiyoruz.
Veri setimizde gecikmeli siparişlerde ort. teslimat 31,1 gün </a:t>
            </a: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zamanında teslimatın tam 3 katı.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45152" y="2487168"/>
            <a:ext cx="4242816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4645152" y="2487168"/>
            <a:ext cx="64008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24328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21808" y="2624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Neden Önemli?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828032" y="3090672"/>
            <a:ext cx="389534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Proaktif müşteri bildirimi sağlanır
✔  Lojistik operasyonlar optimize edilir
✔  İade maliyetleri azaltılır
✔  Müşteri sadakati korunur
✔  Tedarik zinciri darboğazları tespit edilir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Seti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Brezilya E-Ticaret — 96.470 teslim edilmiş sipariş  |  2016–2018</a:t>
            </a:r>
            <a:endParaRPr lang="en-US" sz="1250" dirty="0"/>
          </a:p>
        </p:txBody>
      </p:sp>
      <p:pic>
        <p:nvPicPr>
          <p:cNvPr id="5" name="Image 0" descr="/home/claude/chronological_split_model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411480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3858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Pipeline — Veri Akışı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17720" y="960120"/>
            <a:ext cx="4270248" cy="40233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4709160" y="960120"/>
            <a:ext cx="4087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Anahtar Özellikler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720" y="1389888"/>
            <a:ext cx="4270248" cy="320040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17720" y="1389888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4736592" y="1408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city_late_rate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39712" y="14081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Şehrin geçmiş gecikme oranı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1737360"/>
            <a:ext cx="4270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617720" y="1737360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4736592" y="17556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carrier_ratio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39712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 firması güvenilirliği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7720" y="2084832"/>
            <a:ext cx="4270248" cy="320040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4617720" y="2084832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4736592" y="2103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freight_per_item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39712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başı kargo bedeli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2432304"/>
            <a:ext cx="4270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4617720" y="2432304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4736592" y="24505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log_freight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39712" y="2450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dönüştürülmüş kargo bedeli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17720" y="2779776"/>
            <a:ext cx="4270248" cy="320040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3"/>
          <p:cNvSpPr/>
          <p:nvPr/>
        </p:nvSpPr>
        <p:spPr>
          <a:xfrm>
            <a:off x="4617720" y="2779776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4736592" y="2798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approval_ratio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39712" y="27980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onay hızı oranı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127248"/>
            <a:ext cx="42702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4617720" y="3127248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4736592" y="31455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price_freight_ratio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39712" y="31455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fiyatı / kargo oranı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17720" y="3493008"/>
            <a:ext cx="4270248" cy="32918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4681728" y="3493008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is_late</a:t>
            </a: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Hedef Değişken  |  Power Query Özel Sütun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17720" y="3822192"/>
            <a:ext cx="4270248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3"/>
          <p:cNvSpPr/>
          <p:nvPr/>
        </p:nvSpPr>
        <p:spPr>
          <a:xfrm>
            <a:off x="4617720" y="3822192"/>
            <a:ext cx="54864" cy="10241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4"/>
          <p:cNvSpPr/>
          <p:nvPr/>
        </p:nvSpPr>
        <p:spPr>
          <a:xfrm>
            <a:off x="4754880" y="386791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[order_delivered_customer_date] = null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754880" y="41102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[order_estimated_delivery_date]  = null  →  null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754880" y="435254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 delivered  &gt;  estimated  →  1   (gecikmeli)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754880" y="459486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→  0   (zamanında)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Modelleme Çalışmaları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Kronolojik bölünme ile iki model paralel olarak Azure ML'de eğitildi</a:t>
            </a:r>
            <a:endParaRPr lang="en-US" sz="1250" dirty="0"/>
          </a:p>
        </p:txBody>
      </p:sp>
      <p:pic>
        <p:nvPicPr>
          <p:cNvPr id="5" name="Image 0" descr="/home/claude/chronological_split_model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14400"/>
            <a:ext cx="8631936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3566160"/>
            <a:ext cx="4160520" cy="138988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20624" y="3611880"/>
            <a:ext cx="3822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Two-Class </a:t>
            </a: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20624" y="402336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karar sınırı, yorumlanabilir katsayılar. Baseline model.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5152" y="3566160"/>
            <a:ext cx="4160520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4809744" y="3611880"/>
            <a:ext cx="3822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Two-Class Boosted Decision Tree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09744" y="4023360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öğrenicilerin ardışık kombinasyonu. Doğrusal olmayan ilişkileri yakalar.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" y="4983480"/>
            <a:ext cx="8631936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Kronolojik Bölünme: Eski verilerle eğitim, yeni verilerle test — data leakage riski sıfır, gerçek dünya senaryosunu simüle eder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Değerlendirme — Logistic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0,49  |  AUC: 0,754  |  Kronolojik test seti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609344" cy="104241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81,5%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960120"/>
            <a:ext cx="1609344" cy="10424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99339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23,8%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9339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960120"/>
            <a:ext cx="1609344" cy="10424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73075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075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960120"/>
            <a:ext cx="1609344" cy="1042416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6811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32,4%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6811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960120"/>
            <a:ext cx="1609344" cy="10424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20547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0,754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0547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32120" y="2121408"/>
            <a:ext cx="3355848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 (Threshold 0,49)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532120" y="257860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5532120" y="2578608"/>
            <a:ext cx="54864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5650992" y="261518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1.725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10528" y="261518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Pozitif (TP)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10528" y="283464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doğru yakalandı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32120" y="312724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5532120" y="3127248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5650992" y="31638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5.531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510528" y="316382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Pozitif (FP)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10528" y="338328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yanlış alarm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32120" y="367588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2"/>
          <p:cNvSpPr/>
          <p:nvPr/>
        </p:nvSpPr>
        <p:spPr>
          <a:xfrm>
            <a:off x="5532120" y="3675888"/>
            <a:ext cx="54864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5650992" y="371246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1.680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510528" y="371246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Negatif (FN)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10528" y="39319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kaçırıldı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532120" y="422452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7"/>
          <p:cNvSpPr/>
          <p:nvPr/>
        </p:nvSpPr>
        <p:spPr>
          <a:xfrm>
            <a:off x="5532120" y="4224528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5650992" y="426110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30.005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510528" y="426110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Negatif (TN)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10528" y="44805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doğru tahmin</a:t>
            </a:r>
            <a:endParaRPr lang="en-US" sz="900" dirty="0"/>
          </a:p>
        </p:txBody>
      </p:sp>
      <p:pic>
        <p:nvPicPr>
          <p:cNvPr id="45" name="Resim 44">
            <a:extLst>
              <a:ext uri="{FF2B5EF4-FFF2-40B4-BE49-F238E27FC236}">
                <a16:creationId xmlns:a16="http://schemas.microsoft.com/office/drawing/2014/main" id="{5273EAF0-05AB-BD2E-2EC2-7CF371B3B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42" y="2153413"/>
            <a:ext cx="4790443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Değerlendirme — Boosted Decision Tree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0,37  |  AUC: 0,725  |  Kronolojik test seti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609344" cy="1042416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79,9%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960120"/>
            <a:ext cx="1609344" cy="10424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99339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22,0%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9339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960120"/>
            <a:ext cx="1609344" cy="10424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73075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3075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960120"/>
            <a:ext cx="1609344" cy="1042416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6811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30,6%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6811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960120"/>
            <a:ext cx="1609344" cy="10424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205472" y="987552"/>
            <a:ext cx="1609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0,725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05472" y="1609344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pic>
        <p:nvPicPr>
          <p:cNvPr id="20" name="Image 0" descr="/home/claude/bdt_chronological_split_evaluation_results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2121408"/>
            <a:ext cx="5074920" cy="272491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532120" y="2121408"/>
            <a:ext cx="3355848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5532120" y="2121408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 (Threshold 0,37)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532120" y="257860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5532120" y="2578608"/>
            <a:ext cx="54864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5650992" y="261518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1.728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37376" y="2615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Pozitif (TP)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37376" y="2834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doğru yakalandı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32120" y="312724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5532120" y="3127248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5650992" y="31638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6.144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37376" y="31638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Pozitif (FP)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37376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yanlış alarm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32120" y="3675888"/>
            <a:ext cx="3355848" cy="512064"/>
          </a:xfrm>
          <a:prstGeom prst="rect">
            <a:avLst/>
          </a:prstGeom>
          <a:solidFill>
            <a:srgbClr val="EEF3FC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2"/>
          <p:cNvSpPr/>
          <p:nvPr/>
        </p:nvSpPr>
        <p:spPr>
          <a:xfrm>
            <a:off x="5532120" y="3675888"/>
            <a:ext cx="54864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5650992" y="371246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1.677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37376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Yanlış Negatif (FN)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37376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 → kaçırıldı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532120" y="4224528"/>
            <a:ext cx="335584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7"/>
          <p:cNvSpPr/>
          <p:nvPr/>
        </p:nvSpPr>
        <p:spPr>
          <a:xfrm>
            <a:off x="5532120" y="4224528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5650992" y="426110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29.392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37376" y="42611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Doğru Negatif (TN)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37376" y="4480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geldi → doğru tahmin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Karşılaştırması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Boosted Decision Tree — 5 metrikte yan yana</a:t>
            </a:r>
            <a:endParaRPr lang="en-US" sz="1250" dirty="0"/>
          </a:p>
        </p:txBody>
      </p:sp>
      <p:pic>
        <p:nvPicPr>
          <p:cNvPr id="5" name="Image 0" descr="/home/claude/comparison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50749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960120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5577840" y="960120"/>
            <a:ext cx="182880" cy="9144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852160" y="104241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kazananı: LR — %81,5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399032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%79,9 ile yakın, ancak LR genel doğrulukta daha güvenilir.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984248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577840" y="1984248"/>
            <a:ext cx="18288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852160" y="206654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eşit: her iki model %50,7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42316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0,37 ile BDT artık LR ile aynı recall değerine ulaştı.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008376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5577840" y="3008376"/>
            <a:ext cx="18288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852160" y="309067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kazananı: LR — 0,754 vs 0,725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44728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gecikmeli siparışleri ayırt etmede daha başarılı diskriminasyon sunuyor.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4032504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5577840" y="4032504"/>
            <a:ext cx="18288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852160" y="411480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farkı kritik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4471416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0,49’da çalışırken BDT 0,37 threshold gerektirdi — daha agresif sınıflandırma.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Özellik Önemi — Gecikmeyi Ne Etkiliyor?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Feature Importance (PFI) — Logistic Regression  |  Top 6 özellik</a:t>
            </a:r>
            <a:endParaRPr lang="en-US" sz="1250" dirty="0"/>
          </a:p>
        </p:txBody>
      </p:sp>
      <p:pic>
        <p:nvPicPr>
          <p:cNvPr id="5" name="Image 0" descr="/home/claude/lr_pfi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50749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960120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5577840" y="960120"/>
            <a:ext cx="182880" cy="914400"/>
          </a:xfrm>
          <a:prstGeom prst="rect">
            <a:avLst/>
          </a:prstGeom>
          <a:solidFill>
            <a:srgbClr val="C0503A"/>
          </a:solidFill>
          <a:ln w="12700">
            <a:solidFill>
              <a:srgbClr val="C050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852160" y="104241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Kargo bedeli en güçlü sinyal: 0,486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399032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log_freight LR'da #1. Yüksek kargo bedeli ağır/büyük paketlerle ilişkili — gecikmeye daha yatkın.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984248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577840" y="1984248"/>
            <a:ext cx="182880" cy="914400"/>
          </a:xfrm>
          <a:prstGeom prst="rect">
            <a:avLst/>
          </a:prstGeom>
          <a:solidFill>
            <a:srgbClr val="3A9AD9"/>
          </a:solidFill>
          <a:ln w="12700">
            <a:solidFill>
              <a:srgbClr val="3A9A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852160" y="206654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Teslim alma hızı belirleyici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42316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pickup_ratio (0,318): Kargo firmasının paketi ne hızlı aldığı gecikmeyi doğrudan etkiliyor.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008376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5577840" y="3008376"/>
            <a:ext cx="182880" cy="914400"/>
          </a:xfrm>
          <a:prstGeom prst="rect">
            <a:avLst/>
          </a:prstGeom>
          <a:solidFill>
            <a:srgbClr val="2E9E8E"/>
          </a:solidFill>
          <a:ln w="12700">
            <a:solidFill>
              <a:srgbClr val="2E9E8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852160" y="309067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Lokasyon riski ikinci sırada: 0,296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44728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city_late_rate LR'da da üst sırada — şehir bazlı gecikme geçmişi her iki modelde de güçlü.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4032504"/>
            <a:ext cx="3310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5577840" y="4032504"/>
            <a:ext cx="182880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852160" y="411480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</a:t>
            </a:r>
            <a:r>
              <a:rPr lang="tr-TR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düzenlemesi </a:t>
            </a:r>
            <a:r>
              <a:rPr lang="en-US" sz="1100" b="1" dirty="0" err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mevsimsel</a:t>
            </a: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r-TR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yoğunluğu </a:t>
            </a:r>
            <a:r>
              <a:rPr lang="en-US" sz="1100" b="1" dirty="0" err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yakal</a:t>
            </a:r>
            <a:r>
              <a:rPr lang="tr-TR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ı</a:t>
            </a:r>
            <a:r>
              <a:rPr lang="en-US" sz="1100" b="1" dirty="0" err="1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yor</a:t>
            </a:r>
            <a:r>
              <a:rPr lang="en-US" sz="11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0,053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4471416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month_part: Ayın başı/ortası/sonu ayrımı — yüksek sipariş yoğunluğu dönemlerinde gecikme riski artar.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Kullanım Potansiyeli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96.470 siparışten elde edilen içgörüler gerçek dünyada nasıl değer yaratır?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160520" cy="15727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38912" y="1115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Proaktif Müşteri Bildirimi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517904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Kargoya verildiği an risk skoru üretilir. Yüksek risk → otomatik SMS/e-posta. 7.826 gecikmeli siparişin yarısı önceden tespit edilebilir.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5152" y="987552"/>
            <a:ext cx="4160520" cy="157276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828032" y="11155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Bölge &amp; Taşıyıcı Optimizasyonu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28032" y="1517904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gecikme oranına sahip eyaletlerde otomatik premium taşıyıcı yönlendirmesi. carrier_ratio düşük firmalar devre dışı bırakılır.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761488"/>
            <a:ext cx="4160520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38912" y="28895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Lojistik Risk Dashboardı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Şehir/eyalet bazlı city_late_rate haritası, taşıyıcı performans karşılaştırması, aylık gecikme trendi. Operasyon ekibine haftalık rapor.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5152" y="2761488"/>
            <a:ext cx="4160520" cy="15727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828032" y="28895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Gerçek Zamanlı Skorlama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28032" y="3291840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Real-time Endpoint ile her kargo kaydı &lt;100ms’de skorlanır. 2016–2018 datası canlı sisteme uyarlanmış modelle beslenir.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4507992"/>
            <a:ext cx="8631936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34811" y="4622292"/>
            <a:ext cx="8339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0D1B40"/>
                </a:solidFill>
                <a:ea typeface="Calibri"/>
                <a:cs typeface="Calibri"/>
              </a:rPr>
              <a:t>💡  </a:t>
            </a:r>
            <a:r>
              <a:rPr lang="en-US" sz="1050" i="1" dirty="0" err="1">
                <a:solidFill>
                  <a:srgbClr val="0D1B40"/>
                </a:solidFill>
                <a:ea typeface="Calibri"/>
                <a:cs typeface="Calibri"/>
              </a:rPr>
              <a:t>Gelecek</a:t>
            </a:r>
            <a:r>
              <a:rPr lang="en-US" sz="1050" i="1" dirty="0">
                <a:solidFill>
                  <a:srgbClr val="0D1B40"/>
                </a:solidFill>
                <a:ea typeface="Calibri"/>
                <a:cs typeface="Calibri"/>
              </a:rPr>
              <a:t> </a:t>
            </a:r>
            <a:r>
              <a:rPr lang="en-US" sz="1050" i="1" dirty="0" err="1">
                <a:solidFill>
                  <a:srgbClr val="0D1B40"/>
                </a:solidFill>
                <a:ea typeface="Calibri"/>
                <a:cs typeface="Calibri"/>
              </a:rPr>
              <a:t>Adım</a:t>
            </a:r>
            <a:r>
              <a:rPr lang="en-US" sz="1050" i="1" dirty="0">
                <a:solidFill>
                  <a:srgbClr val="0D1B40"/>
                </a:solidFill>
                <a:ea typeface="Calibri"/>
                <a:cs typeface="Calibri"/>
              </a:rPr>
              <a:t>: </a:t>
            </a:r>
            <a:r>
              <a:rPr lang="en-US" sz="1050" dirty="0">
                <a:ea typeface="+mn-lt"/>
                <a:cs typeface="+mn-lt"/>
              </a:rPr>
              <a:t>Bu </a:t>
            </a:r>
            <a:r>
              <a:rPr lang="en-US" sz="1050" dirty="0" err="1">
                <a:ea typeface="+mn-lt"/>
                <a:cs typeface="+mn-lt"/>
              </a:rPr>
              <a:t>çalışma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bir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prototip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niteliği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taşımakta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olup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ilerleyen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aşamalarda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XGBoost</a:t>
            </a:r>
            <a:r>
              <a:rPr lang="en-US" sz="1050" dirty="0">
                <a:ea typeface="+mn-lt"/>
                <a:cs typeface="+mn-lt"/>
              </a:rPr>
              <a:t>/</a:t>
            </a:r>
            <a:r>
              <a:rPr lang="en-US" sz="1050" dirty="0" err="1">
                <a:ea typeface="+mn-lt"/>
                <a:cs typeface="+mn-lt"/>
              </a:rPr>
              <a:t>LightGBM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algoritmaları</a:t>
            </a:r>
            <a:r>
              <a:rPr lang="en-US" sz="1050" dirty="0">
                <a:ea typeface="+mn-lt"/>
                <a:cs typeface="+mn-lt"/>
              </a:rPr>
              <a:t>, </a:t>
            </a:r>
            <a:r>
              <a:rPr lang="en-US" sz="1050" dirty="0" err="1">
                <a:ea typeface="+mn-lt"/>
                <a:cs typeface="+mn-lt"/>
              </a:rPr>
              <a:t>hava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durumu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ve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tatil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takvimi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gibi</a:t>
            </a:r>
            <a:r>
              <a:rPr lang="en-US" sz="1050" dirty="0">
                <a:ea typeface="+mn-lt"/>
                <a:cs typeface="+mn-lt"/>
              </a:rPr>
              <a:t> ek </a:t>
            </a:r>
            <a:r>
              <a:rPr lang="en-US" sz="1050" dirty="0" err="1">
                <a:ea typeface="+mn-lt"/>
                <a:cs typeface="+mn-lt"/>
              </a:rPr>
              <a:t>veri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kaynakları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ile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zenginleştirilerek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modelin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başarısı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artırılabilir</a:t>
            </a:r>
            <a:r>
              <a:rPr lang="en-US" sz="1050" dirty="0">
                <a:ea typeface="+mn-lt"/>
                <a:cs typeface="+mn-lt"/>
              </a:rPr>
              <a:t>; </a:t>
            </a:r>
            <a:r>
              <a:rPr lang="en-US" sz="1050" dirty="0" err="1">
                <a:ea typeface="+mn-lt"/>
                <a:cs typeface="+mn-lt"/>
              </a:rPr>
              <a:t>ayrıca</a:t>
            </a:r>
            <a:r>
              <a:rPr lang="en-US" sz="1050" dirty="0">
                <a:ea typeface="+mn-lt"/>
                <a:cs typeface="+mn-lt"/>
              </a:rPr>
              <a:t> Azure ML Real-time Endpoint </a:t>
            </a:r>
            <a:r>
              <a:rPr lang="en-US" sz="1050" dirty="0" err="1">
                <a:ea typeface="+mn-lt"/>
                <a:cs typeface="+mn-lt"/>
              </a:rPr>
              <a:t>entegrasyonu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ile</a:t>
            </a:r>
            <a:r>
              <a:rPr lang="en-US" sz="1050" dirty="0">
                <a:ea typeface="+mn-lt"/>
                <a:cs typeface="+mn-lt"/>
              </a:rPr>
              <a:t> her </a:t>
            </a:r>
            <a:r>
              <a:rPr lang="en-US" sz="1050" dirty="0" err="1">
                <a:ea typeface="+mn-lt"/>
                <a:cs typeface="+mn-lt"/>
              </a:rPr>
              <a:t>sipariş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anında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otomatik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müşteri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bildirimi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gönderen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canlı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bir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sisteme</a:t>
            </a:r>
            <a:r>
              <a:rPr lang="en-US" sz="1050" dirty="0">
                <a:ea typeface="+mn-lt"/>
                <a:cs typeface="+mn-lt"/>
              </a:rPr>
              <a:t> </a:t>
            </a:r>
            <a:r>
              <a:rPr lang="en-US" sz="1050" dirty="0" err="1">
                <a:ea typeface="+mn-lt"/>
                <a:cs typeface="+mn-lt"/>
              </a:rPr>
              <a:t>dönüştürülebilir</a:t>
            </a:r>
            <a:endParaRPr lang="en-US" sz="1050" i="1" dirty="0">
              <a:solidFill>
                <a:srgbClr val="0D1B4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" name="Shape 2"/>
          <p:cNvSpPr/>
          <p:nvPr/>
        </p:nvSpPr>
        <p:spPr>
          <a:xfrm>
            <a:off x="6858000" y="3017520"/>
            <a:ext cx="2926080" cy="2926080"/>
          </a:xfrm>
          <a:prstGeom prst="ellipse">
            <a:avLst/>
          </a:prstGeom>
          <a:solidFill>
            <a:srgbClr val="1A3A8F">
              <a:alpha val="35000"/>
            </a:srgbClr>
          </a:solidFill>
          <a:ln w="12700">
            <a:solidFill>
              <a:srgbClr val="1A3A8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880360"/>
            <a:ext cx="150876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38404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 &amp; ÇIKARIMLAR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" y="1097280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68096" y="102412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%81,5 accuracy ve 0,754 AUC ile daha dengeli ve güvenilir bir genel model sundu.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" y="1792224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68096" y="171907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Decision Tree %50,7 recall ile gecikmeli siparişleri yakaladı — ancak daha düşük threshold (0,37) gerektirdi.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" y="2487168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768096" y="2414016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city_late_rate en güçlü tahmin sinyali.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" y="3182112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768096" y="31089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carrier_ratio hem LR hem BDT’de üst sırada: kargo firması seçimi gecikme riskini doğrudan belirliyor.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" y="3877056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68096" y="3803904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Azure ML Real-time Endpoint ile üretim ortamına entegre edilmeye hazır.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6B09DFC-73E7-DF3C-1251-322D14B9A55A}"/>
              </a:ext>
            </a:extLst>
          </p:cNvPr>
          <p:cNvSpPr/>
          <p:nvPr/>
        </p:nvSpPr>
        <p:spPr>
          <a:xfrm>
            <a:off x="457200" y="48417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 err="1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r>
              <a:rPr lang="tr-TR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r-TR" sz="1200" dirty="0"/>
              <a:t>🙂</a:t>
            </a: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r-TR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tr-TR" sz="1600" dirty="0"/>
          </a:p>
          <a:p>
            <a:pPr algn="ctr"/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997</Words>
  <Application>Microsoft Office PowerPoint</Application>
  <PresentationFormat>Ekran Gösterisi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E-Ticaret Teslimat Gecikmesi Tahmin Modeli</dc:title>
  <dc:subject>PptxGenJS Presentation</dc:subject>
  <dc:creator>PptxGenJS</dc:creator>
  <cp:lastModifiedBy>Dilara Şahbaz</cp:lastModifiedBy>
  <cp:revision>6</cp:revision>
  <dcterms:created xsi:type="dcterms:W3CDTF">2026-03-11T16:38:21Z</dcterms:created>
  <dcterms:modified xsi:type="dcterms:W3CDTF">2026-07-13T10:19:11Z</dcterms:modified>
</cp:coreProperties>
</file>